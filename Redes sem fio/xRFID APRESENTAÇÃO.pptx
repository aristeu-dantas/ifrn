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92" r:id="rId2"/>
    <p:sldId id="261" r:id="rId3"/>
    <p:sldId id="263" r:id="rId4"/>
    <p:sldId id="259" r:id="rId5"/>
    <p:sldId id="260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85" r:id="rId14"/>
    <p:sldId id="271" r:id="rId15"/>
    <p:sldId id="273" r:id="rId16"/>
    <p:sldId id="274" r:id="rId17"/>
    <p:sldId id="275" r:id="rId18"/>
    <p:sldId id="284" r:id="rId19"/>
    <p:sldId id="272" r:id="rId20"/>
    <p:sldId id="276" r:id="rId21"/>
    <p:sldId id="277" r:id="rId22"/>
    <p:sldId id="278" r:id="rId23"/>
    <p:sldId id="280" r:id="rId24"/>
    <p:sldId id="279" r:id="rId25"/>
    <p:sldId id="282" r:id="rId26"/>
    <p:sldId id="283" r:id="rId27"/>
    <p:sldId id="281" r:id="rId28"/>
    <p:sldId id="287" r:id="rId29"/>
    <p:sldId id="286" r:id="rId30"/>
    <p:sldId id="288" r:id="rId31"/>
    <p:sldId id="291" r:id="rId32"/>
    <p:sldId id="290" r:id="rId33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18E"/>
    <a:srgbClr val="005E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131" autoAdjust="0"/>
  </p:normalViewPr>
  <p:slideViewPr>
    <p:cSldViewPr>
      <p:cViewPr varScale="1">
        <p:scale>
          <a:sx n="71" d="100"/>
          <a:sy n="71" d="100"/>
        </p:scale>
        <p:origin x="114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BD026A-4A11-4FB9-9557-2C6CE038541A}" type="datetimeFigureOut">
              <a:rPr lang="pt-BR" smtClean="0"/>
              <a:t>07/03/2025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64B71-B0AD-4A72-9A11-E4B59CA58F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2615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464B71-B0AD-4A72-9A11-E4B59CA58F57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14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55783" y="3539057"/>
            <a:ext cx="4088216" cy="331893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55783" y="3539057"/>
            <a:ext cx="4088216" cy="331893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177393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7432" y="73152"/>
            <a:ext cx="1170432" cy="155448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65" y="65277"/>
            <a:ext cx="8992869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5815" y="3031617"/>
            <a:ext cx="8508365" cy="3378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25205" y="6445689"/>
            <a:ext cx="272415" cy="223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35890">
              <a:lnSpc>
                <a:spcPts val="1639"/>
              </a:lnSpc>
            </a:pPr>
            <a:fld id="{81D60167-4931-47E6-BA6A-407CBD079E47}" type="slidenum">
              <a:rPr spc="-5" dirty="0"/>
              <a:t>‹nº›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siarfid.com/pt/rfid-revolutionize-manufacturing.html" TargetMode="External"/><Relationship Id="rId3" Type="http://schemas.openxmlformats.org/officeDocument/2006/relationships/hyperlink" Target="https://www.asiarfid.com/pt/rfid-for-access-control.html" TargetMode="External"/><Relationship Id="rId7" Type="http://schemas.openxmlformats.org/officeDocument/2006/relationships/hyperlink" Target="https://www.asiarfid.com/pt/rfid-in-hospitals.html" TargetMode="External"/><Relationship Id="rId2" Type="http://schemas.openxmlformats.org/officeDocument/2006/relationships/hyperlink" Target="https://www.asiarfid.com/pt/libraries-using-rfid-technology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siarfid.com/pt/rfid-for-tracking.html" TargetMode="External"/><Relationship Id="rId5" Type="http://schemas.openxmlformats.org/officeDocument/2006/relationships/hyperlink" Target="https://www.asiarfid.com/pt/rfid-for-laundry.html" TargetMode="External"/><Relationship Id="rId4" Type="http://schemas.openxmlformats.org/officeDocument/2006/relationships/hyperlink" Target="https://www.asiarfid.com/pt/rfid-for-asset-management.html" TargetMode="External"/><Relationship Id="rId9" Type="http://schemas.openxmlformats.org/officeDocument/2006/relationships/hyperlink" Target="https://www.asiarfid.com/pt/rfid-technology-changes-the-garment-industry.html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ta.ufrj.br/grad/07_1/rfid/RFID_arquivos/futuro.htm" TargetMode="External"/><Relationship Id="rId7" Type="http://schemas.openxmlformats.org/officeDocument/2006/relationships/hyperlink" Target="https://www.youtube.com/watch?v=4S2F45vO1oo" TargetMode="External"/><Relationship Id="rId2" Type="http://schemas.openxmlformats.org/officeDocument/2006/relationships/hyperlink" Target="https://www.gta.ufrj.br/grad/07_1/rfid/RFID_arquivos/prosecontras.ht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gta.ufrj.br/grad/07_1/rfid/RFID_arquivos/breve%20historia.htm" TargetMode="External"/><Relationship Id="rId5" Type="http://schemas.openxmlformats.org/officeDocument/2006/relationships/hyperlink" Target="https://www.gta.ufrj.br/grad/07_1/rfid/RFID_arquivos/como%20funciona.htm" TargetMode="External"/><Relationship Id="rId4" Type="http://schemas.openxmlformats.org/officeDocument/2006/relationships/hyperlink" Target="https://www.gta.ufrj.br/grad/07_1/rfid/RFID_arquivos/utilidades.ht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2400" y="256901"/>
            <a:ext cx="8839200" cy="2461019"/>
            <a:chOff x="0" y="602733"/>
            <a:chExt cx="9143999" cy="2628147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" y="602733"/>
              <a:ext cx="5866788" cy="23916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48584"/>
              <a:ext cx="9143999" cy="82296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0"/>
            <a:ext cx="9144000" cy="259079"/>
          </a:xfrm>
          <a:custGeom>
            <a:avLst/>
            <a:gdLst/>
            <a:ahLst/>
            <a:cxnLst/>
            <a:rect l="l" t="t" r="r" b="b"/>
            <a:pathLst>
              <a:path w="9144000" h="259079">
                <a:moveTo>
                  <a:pt x="9144000" y="0"/>
                </a:moveTo>
                <a:lnTo>
                  <a:pt x="0" y="0"/>
                </a:lnTo>
                <a:lnTo>
                  <a:pt x="0" y="259079"/>
                </a:lnTo>
                <a:lnTo>
                  <a:pt x="9144000" y="259079"/>
                </a:lnTo>
                <a:lnTo>
                  <a:pt x="91440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4800" y="2963976"/>
            <a:ext cx="8382000" cy="35823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pt-BR" sz="4800" b="1" spc="-5" dirty="0">
                <a:latin typeface="Arial MT"/>
                <a:cs typeface="Arial MT"/>
              </a:rPr>
              <a:t>RFID</a:t>
            </a:r>
            <a:br>
              <a:rPr lang="pt-BR" b="1" spc="-5" dirty="0">
                <a:latin typeface="Arial MT"/>
                <a:cs typeface="Arial MT"/>
              </a:rPr>
            </a:br>
            <a:r>
              <a:rPr lang="pt-BR" sz="3600" b="1" dirty="0"/>
              <a:t>Radio Frequency </a:t>
            </a:r>
            <a:r>
              <a:rPr lang="pt-BR" sz="3600" b="1" dirty="0" err="1"/>
              <a:t>Identification</a:t>
            </a:r>
            <a:br>
              <a:rPr lang="pt-BR" sz="3600" b="1" dirty="0"/>
            </a:br>
            <a:br>
              <a:rPr lang="pt-BR" sz="3600" b="1" dirty="0"/>
            </a:br>
            <a:br>
              <a:rPr lang="pt-BR" sz="3600" b="1" dirty="0"/>
            </a:br>
            <a:br>
              <a:rPr lang="pt-BR" sz="3600" b="1" dirty="0"/>
            </a:br>
            <a:r>
              <a:rPr lang="pt-BR" sz="2000" b="1" dirty="0"/>
              <a:t>Professor : Allan </a:t>
            </a:r>
            <a:r>
              <a:rPr lang="pt-BR" sz="2000" b="1" dirty="0" err="1"/>
              <a:t>Aminadab</a:t>
            </a:r>
            <a:br>
              <a:rPr lang="pt-BR" sz="2000" b="1" dirty="0"/>
            </a:br>
            <a:r>
              <a:rPr lang="pt-BR" sz="2000" b="1" dirty="0"/>
              <a:t>Aluno: Aristeu Dantas da Costa Júnior</a:t>
            </a:r>
            <a:endParaRPr sz="2000" b="1" spc="-5" dirty="0">
              <a:latin typeface="Arial MT"/>
              <a:cs typeface="Arial MT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1819" y="315894"/>
            <a:ext cx="2391120" cy="2268148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5573" y="4432805"/>
            <a:ext cx="4257133" cy="1358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639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6200" y="475053"/>
            <a:ext cx="9144000" cy="2473960"/>
            <a:chOff x="0" y="757451"/>
            <a:chExt cx="9144000" cy="24739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4576" y="757451"/>
              <a:ext cx="5866788" cy="239160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148584"/>
              <a:ext cx="9143999" cy="82296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0" y="0"/>
            <a:ext cx="9144000" cy="259079"/>
          </a:xfrm>
          <a:custGeom>
            <a:avLst/>
            <a:gdLst/>
            <a:ahLst/>
            <a:cxnLst/>
            <a:rect l="l" t="t" r="r" b="b"/>
            <a:pathLst>
              <a:path w="9144000" h="259079">
                <a:moveTo>
                  <a:pt x="9144000" y="0"/>
                </a:moveTo>
                <a:lnTo>
                  <a:pt x="0" y="0"/>
                </a:lnTo>
                <a:lnTo>
                  <a:pt x="0" y="259079"/>
                </a:lnTo>
                <a:lnTo>
                  <a:pt x="9144000" y="259079"/>
                </a:lnTo>
                <a:lnTo>
                  <a:pt x="914400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8599" y="3365580"/>
            <a:ext cx="8839200" cy="2412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lang="pt-BR" sz="4000" b="1" spc="-5" dirty="0">
                <a:latin typeface="Arial MT"/>
                <a:cs typeface="Arial MT"/>
              </a:rPr>
              <a:t>OBJETIVO</a:t>
            </a:r>
            <a:br>
              <a:rPr lang="pt-BR" sz="4000" b="1" spc="-5" dirty="0">
                <a:latin typeface="Arial MT"/>
                <a:cs typeface="Arial MT"/>
              </a:rPr>
            </a:br>
            <a:br>
              <a:rPr lang="pt-BR" b="1" spc="-5" dirty="0">
                <a:latin typeface="Arial MT"/>
                <a:cs typeface="Arial MT"/>
              </a:rPr>
            </a:br>
            <a:r>
              <a:rPr lang="pt-BR" sz="3600" dirty="0"/>
              <a:t>Conhecer a Tecnologia </a:t>
            </a:r>
            <a:r>
              <a:rPr lang="pt-BR" sz="3600" b="1" dirty="0"/>
              <a:t>RFID</a:t>
            </a:r>
            <a:r>
              <a:rPr lang="pt-BR" sz="3600" dirty="0"/>
              <a:t> e suas Diversas Aplicações. </a:t>
            </a:r>
            <a:endParaRPr sz="3600" spc="-5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207237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677108"/>
          </a:xfrm>
        </p:spPr>
        <p:txBody>
          <a:bodyPr/>
          <a:lstStyle/>
          <a:p>
            <a:pPr algn="ctr"/>
            <a:r>
              <a:rPr lang="pt-BR" b="1" dirty="0"/>
              <a:t>ROTEIRO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762000" y="3048000"/>
            <a:ext cx="7543800" cy="2462213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b="1" dirty="0"/>
              <a:t>HISTÓRICO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b="1" dirty="0"/>
              <a:t>DESCRIÇÃO DO SISTEMA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b="1" dirty="0"/>
              <a:t>APLICAÇÕES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b="1" dirty="0"/>
              <a:t>VANTAGENS E DESVANTAGENS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pt-BR" sz="3200" b="1" dirty="0"/>
              <a:t>CONCLUSÃO</a:t>
            </a: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04800"/>
            <a:ext cx="6858000" cy="134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80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33600" y="457200"/>
            <a:ext cx="54864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HISTÓRICO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609600" y="2263676"/>
            <a:ext cx="7620000" cy="3385542"/>
          </a:xfrm>
        </p:spPr>
        <p:txBody>
          <a:bodyPr/>
          <a:lstStyle/>
          <a:p>
            <a:r>
              <a:rPr lang="pt-BR" dirty="0"/>
              <a:t>Sistema de radares utilizados na Segunda Grande Guerra Mundial </a:t>
            </a:r>
          </a:p>
          <a:p>
            <a:endParaRPr lang="pt-BR" dirty="0"/>
          </a:p>
          <a:p>
            <a:r>
              <a:rPr lang="pt-BR" dirty="0"/>
              <a:t>Os países envolvidos  utilizavam radares inventados em 1935 pelo físico escocês Robert Alexander Watson-Watt.</a:t>
            </a:r>
          </a:p>
          <a:p>
            <a:endParaRPr lang="pt-BR" dirty="0"/>
          </a:p>
          <a:p>
            <a:r>
              <a:rPr lang="pt-BR" dirty="0"/>
              <a:t>Estes radares informavam com antecedência aviões enquanto eles ainda estavam bem distantes. Porem, os radares não identificavam se eram  aliados de inimigos.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727912"/>
            <a:ext cx="2781300" cy="1842612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9856" y="4572000"/>
            <a:ext cx="3913094" cy="205740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135156" y="6612205"/>
            <a:ext cx="66294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/>
              <a:t>Fonte: https://autoentusiastas.com.br/2022/10/topicos-sobre-motores-aeronauticos-da-ii-guerra-mundial/</a:t>
            </a:r>
          </a:p>
        </p:txBody>
      </p:sp>
    </p:spTree>
    <p:extLst>
      <p:ext uri="{BB962C8B-B14F-4D97-AF65-F5344CB8AC3E}">
        <p14:creationId xmlns:p14="http://schemas.microsoft.com/office/powerpoint/2010/main" val="3757588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33600" y="457200"/>
            <a:ext cx="54864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HISTÓRICO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533400" y="1981200"/>
            <a:ext cx="7924800" cy="4739759"/>
          </a:xfrm>
        </p:spPr>
        <p:txBody>
          <a:bodyPr/>
          <a:lstStyle/>
          <a:p>
            <a:endParaRPr lang="pt-BR" dirty="0"/>
          </a:p>
          <a:p>
            <a:pPr algn="just"/>
            <a:r>
              <a:rPr lang="pt-BR" sz="3200" dirty="0"/>
              <a:t>Os alemães descobriram que se seu pilotos fizessem uma determinada manobra </a:t>
            </a:r>
            <a:r>
              <a:rPr lang="pt-BR" sz="3200" b="1" dirty="0"/>
              <a:t>(360° ao longo do eixo de simetria)</a:t>
            </a:r>
            <a:r>
              <a:rPr lang="pt-BR" sz="3200" dirty="0"/>
              <a:t> quando estivessem retornando à base iriam modificar o sinal de rádio que seria refletido de volta ao radar. Esse é, essencialmente, considerado o </a:t>
            </a:r>
            <a:r>
              <a:rPr lang="pt-BR" sz="3200" b="1" dirty="0"/>
              <a:t>primeiro sistema de RFID.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812114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1169551"/>
          </a:xfrm>
        </p:spPr>
        <p:txBody>
          <a:bodyPr/>
          <a:lstStyle/>
          <a:p>
            <a:pPr algn="ctr"/>
            <a:r>
              <a:rPr lang="pt-BR" b="1" dirty="0"/>
              <a:t>RFID</a:t>
            </a:r>
            <a:br>
              <a:rPr lang="pt-BR" b="1" dirty="0"/>
            </a:br>
            <a:r>
              <a:rPr lang="pt-BR" sz="3200" b="1" dirty="0"/>
              <a:t>DESCRIÇÃO DO SISTEMA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609600" y="2263676"/>
            <a:ext cx="7620000" cy="2215991"/>
          </a:xfrm>
        </p:spPr>
        <p:txBody>
          <a:bodyPr/>
          <a:lstStyle/>
          <a:p>
            <a:pPr algn="just"/>
            <a:r>
              <a:rPr lang="pt-BR" sz="2400" b="1" dirty="0"/>
              <a:t>Componentes do Sistema :</a:t>
            </a:r>
          </a:p>
          <a:p>
            <a:pPr algn="just"/>
            <a:endParaRPr lang="pt-BR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b="1" dirty="0"/>
              <a:t>Dispositivo de Leitura (Antena)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b="1" dirty="0" err="1"/>
              <a:t>Transponder</a:t>
            </a:r>
            <a:r>
              <a:rPr lang="pt-BR" b="1" dirty="0"/>
              <a:t> (</a:t>
            </a:r>
            <a:r>
              <a:rPr lang="pt-BR" b="1" dirty="0" err="1"/>
              <a:t>Tag</a:t>
            </a:r>
            <a:r>
              <a:rPr lang="pt-BR" b="1" dirty="0"/>
              <a:t>)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pt-BR" b="1" dirty="0"/>
              <a:t>Computador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85" y="3614035"/>
            <a:ext cx="5193715" cy="2882003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3886200" y="6457890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000" dirty="0"/>
              <a:t>Fonte : https://www.researchgate.net/figure/Funcionamento-do-sistema-RFID-em-pracas-de-pedagio_fig2_306012292</a:t>
            </a:r>
          </a:p>
        </p:txBody>
      </p:sp>
    </p:spTree>
    <p:extLst>
      <p:ext uri="{BB962C8B-B14F-4D97-AF65-F5344CB8AC3E}">
        <p14:creationId xmlns:p14="http://schemas.microsoft.com/office/powerpoint/2010/main" val="584086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1169551"/>
          </a:xfrm>
        </p:spPr>
        <p:txBody>
          <a:bodyPr/>
          <a:lstStyle/>
          <a:p>
            <a:pPr algn="ctr"/>
            <a:r>
              <a:rPr lang="pt-BR" b="1" dirty="0"/>
              <a:t>RFID</a:t>
            </a:r>
            <a:br>
              <a:rPr lang="pt-BR" b="1" dirty="0"/>
            </a:br>
            <a:r>
              <a:rPr lang="pt-BR" sz="3200" b="1" dirty="0"/>
              <a:t>DESCRIÇÃO DO SISTEMA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609600" y="2263676"/>
            <a:ext cx="7620000" cy="3200876"/>
          </a:xfrm>
        </p:spPr>
        <p:txBody>
          <a:bodyPr/>
          <a:lstStyle/>
          <a:p>
            <a:r>
              <a:rPr lang="pt-BR" sz="2400" b="1" dirty="0"/>
              <a:t>Leitor</a:t>
            </a:r>
          </a:p>
          <a:p>
            <a:endParaRPr lang="pt-BR" sz="2400" dirty="0"/>
          </a:p>
          <a:p>
            <a:pPr algn="just"/>
            <a:r>
              <a:rPr lang="pt-BR" sz="2400" dirty="0"/>
              <a:t>O leitor ou antena, utilizando um  sinal de rádio, é o meio que ativa a </a:t>
            </a:r>
            <a:r>
              <a:rPr lang="pt-BR" sz="2400" dirty="0" err="1"/>
              <a:t>Tag</a:t>
            </a:r>
            <a:r>
              <a:rPr lang="pt-BR" sz="2400" dirty="0"/>
              <a:t> para trocar/enviar informações. As antenas são fabricadas em diversos formatos e tamanhos com configurações e características diferentes, cada uma para um tipo de aplicação. </a:t>
            </a:r>
            <a:endParaRPr lang="pt-BR" sz="2400" b="1" dirty="0"/>
          </a:p>
          <a:p>
            <a:pPr algn="just"/>
            <a:endParaRPr lang="pt-BR" dirty="0"/>
          </a:p>
          <a:p>
            <a:pPr algn="just"/>
            <a:endParaRPr lang="pt-BR" b="1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4873724"/>
            <a:ext cx="2971799" cy="198427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699" y="5105400"/>
            <a:ext cx="2209800" cy="1371600"/>
          </a:xfrm>
          <a:prstGeom prst="rect">
            <a:avLst/>
          </a:prstGeom>
        </p:spPr>
      </p:pic>
      <p:sp>
        <p:nvSpPr>
          <p:cNvPr id="9" name="Retângulo 8"/>
          <p:cNvSpPr/>
          <p:nvPr/>
        </p:nvSpPr>
        <p:spPr>
          <a:xfrm>
            <a:off x="3581400" y="6308566"/>
            <a:ext cx="5334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dirty="0"/>
              <a:t>Fonte :  https://pt.made-in-china.com/co_invengo/product_RFID-Long-Range-9dBi-Linear-Polarized-Waterproof-UHF-RFID-Antenna_uouysgneiy.html</a:t>
            </a:r>
          </a:p>
        </p:txBody>
      </p:sp>
    </p:spTree>
    <p:extLst>
      <p:ext uri="{BB962C8B-B14F-4D97-AF65-F5344CB8AC3E}">
        <p14:creationId xmlns:p14="http://schemas.microsoft.com/office/powerpoint/2010/main" val="216266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1169551"/>
          </a:xfrm>
        </p:spPr>
        <p:txBody>
          <a:bodyPr/>
          <a:lstStyle/>
          <a:p>
            <a:pPr algn="ctr"/>
            <a:r>
              <a:rPr lang="pt-BR" b="1" dirty="0"/>
              <a:t>RFID</a:t>
            </a:r>
            <a:br>
              <a:rPr lang="pt-BR" b="1" dirty="0"/>
            </a:br>
            <a:r>
              <a:rPr lang="pt-BR" sz="3200" b="1" dirty="0"/>
              <a:t>DESCRIÇÃO DO SISTEMA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609600" y="2263676"/>
            <a:ext cx="7620000" cy="4365724"/>
          </a:xfrm>
        </p:spPr>
        <p:txBody>
          <a:bodyPr/>
          <a:lstStyle/>
          <a:p>
            <a:r>
              <a:rPr lang="pt-BR" sz="2400" b="1" dirty="0" err="1"/>
              <a:t>Transponder</a:t>
            </a:r>
            <a:endParaRPr lang="pt-BR" sz="2400" b="1" dirty="0"/>
          </a:p>
          <a:p>
            <a:endParaRPr lang="pt-BR" sz="2400" dirty="0"/>
          </a:p>
          <a:p>
            <a:pPr algn="just"/>
            <a:r>
              <a:rPr lang="pt-BR" sz="2400" dirty="0"/>
              <a:t>O </a:t>
            </a:r>
            <a:r>
              <a:rPr lang="pt-BR" sz="2400" dirty="0" err="1"/>
              <a:t>transponder</a:t>
            </a:r>
            <a:r>
              <a:rPr lang="pt-BR" sz="2400" dirty="0"/>
              <a:t> é o dispositivo que carrega os dados reais de um sistema de RFID. Consiste normalmente de uma antena e um microchip eletrônico. </a:t>
            </a:r>
            <a:endParaRPr lang="pt-BR" sz="2400" b="1" dirty="0"/>
          </a:p>
          <a:p>
            <a:pPr algn="just"/>
            <a:endParaRPr lang="pt-BR" sz="2400" b="1" dirty="0"/>
          </a:p>
          <a:p>
            <a:pPr algn="just"/>
            <a:endParaRPr lang="pt-BR" dirty="0"/>
          </a:p>
          <a:p>
            <a:pPr algn="just"/>
            <a:endParaRPr lang="pt-BR" b="1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116" y="4568228"/>
            <a:ext cx="2103062" cy="1394422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381" y="4572000"/>
            <a:ext cx="3196619" cy="1390650"/>
          </a:xfrm>
          <a:prstGeom prst="rect">
            <a:avLst/>
          </a:prstGeom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1" y="4572000"/>
            <a:ext cx="2133600" cy="1390650"/>
          </a:xfrm>
          <a:prstGeom prst="rect">
            <a:avLst/>
          </a:prstGeom>
        </p:spPr>
      </p:pic>
      <p:sp>
        <p:nvSpPr>
          <p:cNvPr id="12" name="Retângulo 11"/>
          <p:cNvSpPr/>
          <p:nvPr/>
        </p:nvSpPr>
        <p:spPr>
          <a:xfrm>
            <a:off x="1676400" y="6159184"/>
            <a:ext cx="5791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1100" dirty="0"/>
              <a:t>Fonte: https://www.researchgate.net/figure/Structure-of-an-RFID-transponder_fig1_229067622</a:t>
            </a:r>
          </a:p>
        </p:txBody>
      </p:sp>
    </p:spTree>
    <p:extLst>
      <p:ext uri="{BB962C8B-B14F-4D97-AF65-F5344CB8AC3E}">
        <p14:creationId xmlns:p14="http://schemas.microsoft.com/office/powerpoint/2010/main" val="51489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1169551"/>
          </a:xfrm>
        </p:spPr>
        <p:txBody>
          <a:bodyPr/>
          <a:lstStyle/>
          <a:p>
            <a:pPr algn="ctr"/>
            <a:r>
              <a:rPr lang="pt-BR" b="1" dirty="0"/>
              <a:t>RFID</a:t>
            </a:r>
            <a:br>
              <a:rPr lang="pt-BR" b="1" dirty="0"/>
            </a:br>
            <a:r>
              <a:rPr lang="pt-BR" sz="3200" b="1" dirty="0"/>
              <a:t>DESCRIÇÃO DO SISTEMA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609600" y="2263676"/>
            <a:ext cx="7620000" cy="5047536"/>
          </a:xfrm>
        </p:spPr>
        <p:txBody>
          <a:bodyPr/>
          <a:lstStyle/>
          <a:p>
            <a:endParaRPr lang="pt-BR" sz="2400" b="1" dirty="0"/>
          </a:p>
          <a:p>
            <a:pPr algn="just"/>
            <a:r>
              <a:rPr lang="pt-BR" sz="2400" b="1" dirty="0"/>
              <a:t>Ativos</a:t>
            </a:r>
            <a:r>
              <a:rPr lang="pt-BR" sz="2400" dirty="0"/>
              <a:t> – São alimentados por uma bateria interna e tipicamente permitem processos de escrita e leitura.</a:t>
            </a:r>
          </a:p>
          <a:p>
            <a:pPr algn="just"/>
            <a:r>
              <a:rPr lang="pt-BR" sz="2400" dirty="0"/>
              <a:t>alcance de leitura dos sinais emitidos de 30 a mais de 100 metros.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Passivos</a:t>
            </a:r>
            <a:r>
              <a:rPr lang="pt-BR" sz="2400" dirty="0"/>
              <a:t> – Operam sem bateria, sendo que sua alimentação é fornecida pelo próprio leitor através das ondas eletromagnéticas. (</a:t>
            </a:r>
            <a:r>
              <a:rPr lang="pt-BR" sz="2400" dirty="0" err="1"/>
              <a:t>read-only</a:t>
            </a:r>
            <a:r>
              <a:rPr lang="pt-BR" sz="2400" dirty="0"/>
              <a:t>)</a:t>
            </a:r>
          </a:p>
          <a:p>
            <a:pPr algn="just"/>
            <a:r>
              <a:rPr lang="pt-BR" sz="2400" dirty="0"/>
              <a:t>Leitura dos sinais emitidos , no máximo, 25 metros.</a:t>
            </a:r>
          </a:p>
          <a:p>
            <a:pPr algn="just"/>
            <a:endParaRPr lang="pt-BR" sz="2400" b="1" dirty="0"/>
          </a:p>
          <a:p>
            <a:pPr algn="just"/>
            <a:endParaRPr lang="pt-BR" dirty="0"/>
          </a:p>
          <a:p>
            <a:pPr algn="just"/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165776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1107996"/>
          </a:xfrm>
        </p:spPr>
        <p:txBody>
          <a:bodyPr/>
          <a:lstStyle/>
          <a:p>
            <a:pPr algn="ctr"/>
            <a:r>
              <a:rPr lang="pt-BR" sz="3600" b="1" dirty="0"/>
              <a:t>RFID</a:t>
            </a:r>
            <a:br>
              <a:rPr lang="pt-BR" sz="3600" b="1" dirty="0"/>
            </a:br>
            <a:r>
              <a:rPr lang="pt-BR" sz="3600" b="1" dirty="0"/>
              <a:t>DESCRIÇÃO DO SISTEMA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2286000" y="2133600"/>
            <a:ext cx="4876800" cy="457199"/>
          </a:xfrm>
        </p:spPr>
        <p:txBody>
          <a:bodyPr/>
          <a:lstStyle/>
          <a:p>
            <a:r>
              <a:rPr lang="pt-BR" sz="2400" b="1" dirty="0"/>
              <a:t>RELAÇÃO DE FREQUÊNCIAS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6557249"/>
              </p:ext>
            </p:extLst>
          </p:nvPr>
        </p:nvGraphicFramePr>
        <p:xfrm>
          <a:off x="990600" y="2590799"/>
          <a:ext cx="7448739" cy="37299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82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2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2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24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Ondas 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Frequência 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Alcance entre leitor e </a:t>
                      </a:r>
                      <a:r>
                        <a:rPr lang="pt-BR" sz="2400" kern="50" dirty="0" err="1">
                          <a:effectLst/>
                        </a:rPr>
                        <a:t>tag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034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125Khz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Baixa (LF)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>
                          <a:effectLst/>
                        </a:rPr>
                        <a:t>Alguns centímetros até 0,5 metros</a:t>
                      </a:r>
                      <a:endParaRPr lang="pt-BR" sz="2400" kern="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125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13,56Mhz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>
                          <a:effectLst/>
                        </a:rPr>
                        <a:t>Alta (HF)</a:t>
                      </a:r>
                      <a:endParaRPr lang="pt-BR" sz="2400" kern="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>
                          <a:effectLst/>
                        </a:rPr>
                        <a:t>Até 1 metro</a:t>
                      </a:r>
                      <a:endParaRPr lang="pt-BR" sz="2400" kern="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89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860Mhz a 960Mhz 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>
                          <a:effectLst/>
                        </a:rPr>
                        <a:t>Ultra (UHF) </a:t>
                      </a:r>
                      <a:endParaRPr lang="pt-BR" sz="2400" kern="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>
                          <a:effectLst/>
                        </a:rPr>
                        <a:t>Até 12 metros</a:t>
                      </a:r>
                      <a:endParaRPr lang="pt-BR" sz="2400" kern="5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894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2,45Ghz ou 5,8Ghz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Micro-ondas 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2400" kern="50" dirty="0">
                          <a:effectLst/>
                        </a:rPr>
                        <a:t>Mais de 10 metros</a:t>
                      </a:r>
                      <a:endParaRPr lang="pt-BR" sz="2400" kern="5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  <a:cs typeface="Mangal"/>
                      </a:endParaRPr>
                    </a:p>
                  </a:txBody>
                  <a:tcPr marL="9525" marR="9525" marT="9525" marB="95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042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1169551"/>
          </a:xfrm>
        </p:spPr>
        <p:txBody>
          <a:bodyPr/>
          <a:lstStyle/>
          <a:p>
            <a:pPr algn="ctr"/>
            <a:r>
              <a:rPr lang="pt-BR" b="1" dirty="0"/>
              <a:t>RFID</a:t>
            </a:r>
            <a:br>
              <a:rPr lang="pt-BR" b="1" dirty="0"/>
            </a:br>
            <a:r>
              <a:rPr lang="pt-BR" sz="3200" b="1" dirty="0"/>
              <a:t>DESCRIÇÃO DO SISTEMA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2286000"/>
            <a:ext cx="8001000" cy="1846659"/>
          </a:xfrm>
        </p:spPr>
        <p:txBody>
          <a:bodyPr/>
          <a:lstStyle/>
          <a:p>
            <a:r>
              <a:rPr lang="pt-BR" sz="2400" b="1" dirty="0"/>
              <a:t>COMPUTADOR </a:t>
            </a:r>
          </a:p>
          <a:p>
            <a:endParaRPr lang="pt-BR" sz="2400" b="1" dirty="0"/>
          </a:p>
          <a:p>
            <a:pPr algn="just"/>
            <a:r>
              <a:rPr lang="pt-BR" sz="2400" b="1" dirty="0"/>
              <a:t>Deve estar conectado ao dispositivo de Leitura (Antena) para processar as informações.</a:t>
            </a:r>
          </a:p>
          <a:p>
            <a:endParaRPr lang="pt-BR" sz="2400" b="1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990856"/>
            <a:ext cx="4191000" cy="288125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95" y="4132660"/>
            <a:ext cx="2961905" cy="2127394"/>
          </a:xfrm>
          <a:prstGeom prst="rect">
            <a:avLst/>
          </a:prstGeom>
        </p:spPr>
      </p:pic>
      <p:sp>
        <p:nvSpPr>
          <p:cNvPr id="8" name="Retângulo 7"/>
          <p:cNvSpPr/>
          <p:nvPr/>
        </p:nvSpPr>
        <p:spPr>
          <a:xfrm>
            <a:off x="2609934" y="6409428"/>
            <a:ext cx="224773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100" dirty="0"/>
              <a:t>Fonte: https://www.rfidjournal.com</a:t>
            </a:r>
          </a:p>
        </p:txBody>
      </p:sp>
    </p:spTree>
    <p:extLst>
      <p:ext uri="{BB962C8B-B14F-4D97-AF65-F5344CB8AC3E}">
        <p14:creationId xmlns:p14="http://schemas.microsoft.com/office/powerpoint/2010/main" val="3700570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1107996"/>
          </a:xfrm>
        </p:spPr>
        <p:txBody>
          <a:bodyPr/>
          <a:lstStyle/>
          <a:p>
            <a:pPr algn="ctr"/>
            <a:r>
              <a:rPr lang="pt-BR" sz="3600" b="1" dirty="0"/>
              <a:t>RFID</a:t>
            </a:r>
            <a:br>
              <a:rPr lang="pt-BR" sz="3600" b="1" dirty="0"/>
            </a:br>
            <a:r>
              <a:rPr lang="pt-BR" sz="3600" b="1" dirty="0"/>
              <a:t>DESCRIÇÃO DO SISTEMA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2286000"/>
            <a:ext cx="8001000" cy="3631763"/>
          </a:xfrm>
        </p:spPr>
        <p:txBody>
          <a:bodyPr/>
          <a:lstStyle/>
          <a:p>
            <a:pPr algn="just"/>
            <a:r>
              <a:rPr lang="pt-BR" sz="2800" b="1" dirty="0"/>
              <a:t>A tecnologia RFID,  em relação ao código de barras :</a:t>
            </a:r>
          </a:p>
          <a:p>
            <a:pPr algn="just"/>
            <a:endParaRPr lang="pt-BR" sz="2800" b="1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2400" dirty="0"/>
              <a:t>mais mobilidade;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2400" dirty="0"/>
              <a:t>maior segurança na transmissão de dados;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2400" dirty="0"/>
              <a:t>tempo de leitura da ordem 100 milissegundos.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pt-BR" sz="2400" dirty="0"/>
          </a:p>
          <a:p>
            <a:pPr algn="just"/>
            <a:r>
              <a:rPr lang="pt-BR" sz="2800" b="1" dirty="0"/>
              <a:t>Vem sendo utilizada nas mais diversificadas áreas.</a:t>
            </a:r>
          </a:p>
        </p:txBody>
      </p:sp>
    </p:spTree>
    <p:extLst>
      <p:ext uri="{BB962C8B-B14F-4D97-AF65-F5344CB8AC3E}">
        <p14:creationId xmlns:p14="http://schemas.microsoft.com/office/powerpoint/2010/main" val="4248487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2286000"/>
            <a:ext cx="8001000" cy="4124206"/>
          </a:xfrm>
        </p:spPr>
        <p:txBody>
          <a:bodyPr/>
          <a:lstStyle/>
          <a:p>
            <a:pPr algn="just"/>
            <a:r>
              <a:rPr lang="pt-BR" sz="2400" b="1" dirty="0"/>
              <a:t>Setor Industrial</a:t>
            </a:r>
          </a:p>
          <a:p>
            <a:pPr algn="just"/>
            <a:endParaRPr lang="pt-BR" sz="2400" dirty="0"/>
          </a:p>
          <a:p>
            <a:pPr algn="just"/>
            <a:r>
              <a:rPr lang="pt-BR" b="1" dirty="0"/>
              <a:t>Manutenção</a:t>
            </a:r>
          </a:p>
          <a:p>
            <a:pPr algn="just"/>
            <a:endParaRPr lang="pt-BR" b="1" dirty="0"/>
          </a:p>
          <a:p>
            <a:pPr algn="just"/>
            <a:r>
              <a:rPr lang="pt-BR" dirty="0"/>
              <a:t>As principais preocupações em um processo de manutenção de sistemas complexos podem ser sumarizadas em:</a:t>
            </a:r>
          </a:p>
          <a:p>
            <a:pPr algn="just"/>
            <a:endParaRPr lang="pt-BR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dirty="0"/>
              <a:t>Informações precisas e atuais sobre os objetos;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dirty="0"/>
              <a:t>Transferência em tempo real das informações dos incidentes críticos; 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dirty="0"/>
              <a:t>Acesso rápido as bases de conhecimento necessárias para a solução do problema.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95920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2286000"/>
            <a:ext cx="8001000" cy="4308872"/>
          </a:xfrm>
        </p:spPr>
        <p:txBody>
          <a:bodyPr/>
          <a:lstStyle/>
          <a:p>
            <a:pPr algn="just"/>
            <a:r>
              <a:rPr lang="pt-BR" sz="2400" b="1" dirty="0"/>
              <a:t>Setor Industrial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b="1" dirty="0"/>
              <a:t>Manutenção</a:t>
            </a:r>
          </a:p>
          <a:p>
            <a:pPr algn="just"/>
            <a:endParaRPr lang="pt-BR" b="1" dirty="0"/>
          </a:p>
          <a:p>
            <a:pPr algn="just"/>
            <a:r>
              <a:rPr lang="pt-BR" sz="2400" dirty="0"/>
              <a:t>Com RFID é possível manter um histórico do objeto, com todos os procedimentos de manutenção nele já realizados, o que é ideal para </a:t>
            </a:r>
            <a:r>
              <a:rPr lang="pt-BR" sz="2400" b="1" dirty="0"/>
              <a:t>manutenção preventiva </a:t>
            </a:r>
            <a:r>
              <a:rPr lang="pt-BR" sz="2400" dirty="0"/>
              <a:t>e ainda propicia uma melhora na documentação do processo de manutenção, permitindo </a:t>
            </a:r>
            <a:r>
              <a:rPr lang="pt-BR" sz="2400" b="1" dirty="0"/>
              <a:t>relatórios mais eficientes</a:t>
            </a:r>
            <a:r>
              <a:rPr lang="pt-BR" sz="2400" dirty="0"/>
              <a:t>, além de uma </a:t>
            </a:r>
            <a:r>
              <a:rPr lang="pt-BR" sz="2400" b="1" dirty="0"/>
              <a:t>redução dos custos administrativos </a:t>
            </a:r>
            <a:r>
              <a:rPr lang="pt-BR" sz="2400" dirty="0"/>
              <a:t>em decorrência da diminuição da burocracia.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14272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2286000"/>
            <a:ext cx="8001000" cy="4739759"/>
          </a:xfrm>
        </p:spPr>
        <p:txBody>
          <a:bodyPr/>
          <a:lstStyle/>
          <a:p>
            <a:pPr algn="just"/>
            <a:r>
              <a:rPr lang="pt-BR" sz="2800" b="1" dirty="0"/>
              <a:t>Setor Comercial</a:t>
            </a:r>
          </a:p>
          <a:p>
            <a:endParaRPr lang="pt-BR" sz="2800" dirty="0"/>
          </a:p>
          <a:p>
            <a:pPr algn="just"/>
            <a:r>
              <a:rPr lang="pt-BR" sz="2800" dirty="0"/>
              <a:t>O uso desta tecnologia também pode ser aplicado na gerência de estoques e armazéns quando estes tem uma alta movimentação de produtos, pois RFID permite um controle mais ágil já que não é preciso contato direto entre o funcionário e os produtos como no código de barras. Esta gerência pode ser feita por RFID desde o estoque até os estabelecimentos comerciais.</a:t>
            </a:r>
          </a:p>
          <a:p>
            <a:pPr algn="just"/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3664295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2286000"/>
            <a:ext cx="8001000" cy="4343400"/>
          </a:xfrm>
        </p:spPr>
        <p:txBody>
          <a:bodyPr/>
          <a:lstStyle/>
          <a:p>
            <a:pPr algn="just"/>
            <a:r>
              <a:rPr lang="pt-BR" sz="2800" b="1" dirty="0"/>
              <a:t>Setor Comercial</a:t>
            </a:r>
          </a:p>
          <a:p>
            <a:endParaRPr lang="pt-BR" sz="2800" dirty="0"/>
          </a:p>
          <a:p>
            <a:pPr algn="just"/>
            <a:r>
              <a:rPr lang="pt-BR" sz="2400" dirty="0"/>
              <a:t>Caminhões que fazem o serviço de entrega de mercadorias também podem ser equipados com sistema de </a:t>
            </a:r>
            <a:r>
              <a:rPr lang="pt-BR" sz="2400" dirty="0" err="1"/>
              <a:t>radiofreqüência</a:t>
            </a:r>
            <a:r>
              <a:rPr lang="pt-BR" sz="2400" dirty="0"/>
              <a:t> para um monitoramento mais ágil e eficiente. Leitores instalados nas caçambas dos caminhões monitoram os produtos que entram e saem da caçamba e as informações sobre o tipo de mercadoria transportada, hora que foi entregue, </a:t>
            </a:r>
            <a:r>
              <a:rPr lang="pt-BR" sz="2400" dirty="0" err="1"/>
              <a:t>etc</a:t>
            </a:r>
            <a:r>
              <a:rPr lang="pt-BR" sz="2400" dirty="0"/>
              <a:t>, são salvas em um computados de bordo.</a:t>
            </a:r>
          </a:p>
          <a:p>
            <a:pPr algn="just"/>
            <a:endParaRPr lang="pt-BR" sz="2800" b="1" dirty="0"/>
          </a:p>
        </p:txBody>
      </p:sp>
    </p:spTree>
    <p:extLst>
      <p:ext uri="{BB962C8B-B14F-4D97-AF65-F5344CB8AC3E}">
        <p14:creationId xmlns:p14="http://schemas.microsoft.com/office/powerpoint/2010/main" val="4239447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1905000"/>
            <a:ext cx="8001000" cy="4062651"/>
          </a:xfrm>
        </p:spPr>
        <p:txBody>
          <a:bodyPr/>
          <a:lstStyle/>
          <a:p>
            <a:pPr algn="just"/>
            <a:r>
              <a:rPr lang="pt-BR" sz="2800" b="1" dirty="0"/>
              <a:t>Setor Comercial</a:t>
            </a:r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endParaRPr lang="pt-BR" sz="2800" dirty="0"/>
          </a:p>
          <a:p>
            <a:pPr algn="just"/>
            <a:r>
              <a:rPr lang="pt-BR" sz="1200" i="1" dirty="0"/>
              <a:t>Caminhão equipado com estruturas de RFID</a:t>
            </a:r>
            <a:endParaRPr lang="pt-BR" sz="1200" b="1" dirty="0"/>
          </a:p>
        </p:txBody>
      </p:sp>
      <p:pic>
        <p:nvPicPr>
          <p:cNvPr id="1026" name="Picture 2" descr="image01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398735"/>
            <a:ext cx="3657600" cy="3075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3657600" y="6322886"/>
            <a:ext cx="522980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Fonte: https://www.gta.ufrj.br/grad/07_1/rfid/RFID_arquivos/utilidades.htm</a:t>
            </a:r>
          </a:p>
        </p:txBody>
      </p:sp>
    </p:spTree>
    <p:extLst>
      <p:ext uri="{BB962C8B-B14F-4D97-AF65-F5344CB8AC3E}">
        <p14:creationId xmlns:p14="http://schemas.microsoft.com/office/powerpoint/2010/main" val="29163770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2286000"/>
            <a:ext cx="8001000" cy="3508653"/>
          </a:xfrm>
        </p:spPr>
        <p:txBody>
          <a:bodyPr/>
          <a:lstStyle/>
          <a:p>
            <a:pPr algn="just"/>
            <a:r>
              <a:rPr lang="pt-BR" sz="2400" b="1" dirty="0"/>
              <a:t>Setor Serviços</a:t>
            </a:r>
          </a:p>
          <a:p>
            <a:pPr algn="just"/>
            <a:endParaRPr lang="pt-BR" sz="2400" dirty="0"/>
          </a:p>
          <a:p>
            <a:pPr algn="just"/>
            <a:r>
              <a:rPr lang="pt-BR" b="1" dirty="0" err="1"/>
              <a:t>RFIDs</a:t>
            </a:r>
            <a:r>
              <a:rPr lang="pt-BR" b="1" dirty="0"/>
              <a:t> </a:t>
            </a:r>
            <a:r>
              <a:rPr lang="pt-BR" dirty="0"/>
              <a:t>fixados nos </a:t>
            </a:r>
            <a:r>
              <a:rPr lang="pt-BR" b="1" dirty="0" err="1"/>
              <a:t>pára-brisas</a:t>
            </a:r>
            <a:r>
              <a:rPr lang="pt-BR" b="1" dirty="0"/>
              <a:t> de carros alugados </a:t>
            </a:r>
            <a:r>
              <a:rPr lang="pt-BR" dirty="0"/>
              <a:t>podem guardar a identificação do veículo, de tal forma que as locadoras possam ter acesso a relatórios automaticamente usando leitores de RFID nos estacionamentos, além de ajudar na localização dos veículos.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Pedágios (Sem parar)</a:t>
            </a:r>
            <a:r>
              <a:rPr lang="pt-BR" dirty="0"/>
              <a:t> O consumidor possui um </a:t>
            </a:r>
            <a:r>
              <a:rPr lang="pt-BR" dirty="0" err="1"/>
              <a:t>tag</a:t>
            </a:r>
            <a:r>
              <a:rPr lang="pt-BR" dirty="0"/>
              <a:t> em seu carro e os leitores estáticos se situam no pedágio. Ao passar por ele, o </a:t>
            </a:r>
            <a:r>
              <a:rPr lang="pt-BR" dirty="0" err="1"/>
              <a:t>tag</a:t>
            </a:r>
            <a:r>
              <a:rPr lang="pt-BR" dirty="0"/>
              <a:t> é ativada e as informações dos carros são recolhidas e salvas em um banco de dados. 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280055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2286000"/>
            <a:ext cx="8001000" cy="430887"/>
          </a:xfrm>
        </p:spPr>
        <p:txBody>
          <a:bodyPr/>
          <a:lstStyle/>
          <a:p>
            <a:pPr algn="just"/>
            <a:r>
              <a:rPr lang="pt-BR" sz="2800" b="1" dirty="0"/>
              <a:t>Sem Parar 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5" y="2774950"/>
            <a:ext cx="5391150" cy="3594100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1676400" y="6396335"/>
            <a:ext cx="5715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Fonte: https://autoesporte.globo.com/seu-bolso/noticia/2021/12/como-funciona-o-sem-parar-e-outros-sistemas-de-cobranca-automatica-de-pedagio.ghtml</a:t>
            </a:r>
          </a:p>
        </p:txBody>
      </p:sp>
    </p:spTree>
    <p:extLst>
      <p:ext uri="{BB962C8B-B14F-4D97-AF65-F5344CB8AC3E}">
        <p14:creationId xmlns:p14="http://schemas.microsoft.com/office/powerpoint/2010/main" val="2252052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1905000"/>
            <a:ext cx="8001000" cy="3816429"/>
          </a:xfrm>
        </p:spPr>
        <p:txBody>
          <a:bodyPr/>
          <a:lstStyle/>
          <a:p>
            <a:r>
              <a:rPr lang="pt-BR" sz="2800" b="1" dirty="0"/>
              <a:t>Gerência de Bibliotecas</a:t>
            </a:r>
          </a:p>
          <a:p>
            <a:endParaRPr lang="pt-BR" sz="2800" b="1" dirty="0"/>
          </a:p>
          <a:p>
            <a:pPr algn="just"/>
            <a:r>
              <a:rPr lang="pt-BR" sz="2400" dirty="0"/>
              <a:t>Em bibliotecas e centros de informação, a tecnologia RFID é utilizada para identificação do acervo, possibilitando leitura e rastreamento dos exemplares físicos das obras com mais rapidez e facilidade.</a:t>
            </a:r>
            <a:endParaRPr lang="pt-BR" sz="2800" dirty="0"/>
          </a:p>
          <a:p>
            <a:pPr algn="just"/>
            <a:r>
              <a:rPr lang="pt-BR" sz="2400" dirty="0"/>
              <a:t>Uma vez que é possível converter facilmente os códigos identificadores existentes atualmente no código de barras para etiquetas RFID, as grandes bibliotecas podem aderir a esta nova tecnologia sem grandes problemas.</a:t>
            </a:r>
          </a:p>
        </p:txBody>
      </p:sp>
    </p:spTree>
    <p:extLst>
      <p:ext uri="{BB962C8B-B14F-4D97-AF65-F5344CB8AC3E}">
        <p14:creationId xmlns:p14="http://schemas.microsoft.com/office/powerpoint/2010/main" val="2059565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457200" y="1905001"/>
            <a:ext cx="8001000" cy="4801314"/>
          </a:xfrm>
        </p:spPr>
        <p:txBody>
          <a:bodyPr/>
          <a:lstStyle/>
          <a:p>
            <a:r>
              <a:rPr lang="pt-BR" sz="2800" b="1" dirty="0"/>
              <a:t>Gerência de Bibliotecas</a:t>
            </a:r>
          </a:p>
          <a:p>
            <a:pPr algn="just"/>
            <a:r>
              <a:rPr lang="pt-BR" dirty="0"/>
              <a:t>Dentre todos os serviços prestados pela biblioteca e realizados para o controle do acervo, estão listadas algumas das áreas onde é útil a implantação de RFID:</a:t>
            </a:r>
          </a:p>
          <a:p>
            <a:pPr algn="just"/>
            <a:endParaRPr lang="pt-BR" dirty="0"/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pt-BR" dirty="0" err="1"/>
              <a:t>Auto-atendimento</a:t>
            </a:r>
            <a:endParaRPr lang="pt-BR" dirty="0"/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pt-BR" dirty="0"/>
              <a:t>Controle de acesso de funcionários e usuários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pt-BR" dirty="0"/>
              <a:t>Devolução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pt-BR" dirty="0"/>
              <a:t>Empréstimo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pt-BR" dirty="0"/>
              <a:t>Estatística de consulta local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pt-BR" dirty="0"/>
              <a:t>Leitura de estante para inventário do acervo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pt-BR" dirty="0"/>
              <a:t>Localização de exemplares </a:t>
            </a:r>
            <a:r>
              <a:rPr lang="pt-BR" dirty="0" err="1"/>
              <a:t>mal-ordenados</a:t>
            </a:r>
            <a:r>
              <a:rPr lang="pt-BR" dirty="0"/>
              <a:t> no acervo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pt-BR" dirty="0"/>
              <a:t>Localização de exemplares em outras bibliotecas da rede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pt-BR" dirty="0" err="1"/>
              <a:t>Re-catalogação</a:t>
            </a:r>
            <a:endParaRPr lang="pt-BR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41019321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533400" y="1981200"/>
            <a:ext cx="8001000" cy="5109091"/>
          </a:xfrm>
        </p:spPr>
        <p:txBody>
          <a:bodyPr/>
          <a:lstStyle/>
          <a:p>
            <a:r>
              <a:rPr lang="pt-BR" sz="2800" b="1" dirty="0"/>
              <a:t>Segurança</a:t>
            </a:r>
          </a:p>
          <a:p>
            <a:endParaRPr lang="pt-BR" sz="2800" b="1" dirty="0"/>
          </a:p>
          <a:p>
            <a:pPr algn="just"/>
            <a:r>
              <a:rPr lang="pt-BR" sz="2800" dirty="0"/>
              <a:t>Ao se falar em segurança, </a:t>
            </a:r>
            <a:r>
              <a:rPr lang="pt-BR" sz="2800" b="1" dirty="0"/>
              <a:t>RFID é associado a controle de acesso</a:t>
            </a:r>
            <a:r>
              <a:rPr lang="pt-BR" sz="2800" dirty="0"/>
              <a:t>, que nada mais é do que a simples ideia de áreas serem restritas somente a quem ou a o que tiver um </a:t>
            </a:r>
            <a:r>
              <a:rPr lang="pt-BR" sz="2800" dirty="0" err="1"/>
              <a:t>tag</a:t>
            </a:r>
            <a:r>
              <a:rPr lang="pt-BR" sz="2800" dirty="0"/>
              <a:t> com determinadas informações. Assim, para se fraudar a segurança precisará ter uma </a:t>
            </a:r>
            <a:r>
              <a:rPr lang="pt-BR" sz="2800" b="1" dirty="0" err="1"/>
              <a:t>tag</a:t>
            </a:r>
            <a:r>
              <a:rPr lang="pt-BR" sz="2800" b="1" dirty="0"/>
              <a:t> com as informações específicas </a:t>
            </a:r>
            <a:r>
              <a:rPr lang="pt-BR" sz="2800" dirty="0"/>
              <a:t>e a </a:t>
            </a:r>
            <a:r>
              <a:rPr lang="pt-BR" sz="2800" b="1" dirty="0"/>
              <a:t>frequência certa </a:t>
            </a:r>
            <a:r>
              <a:rPr lang="pt-BR" sz="2800" dirty="0"/>
              <a:t>de operação do leitor.</a:t>
            </a:r>
          </a:p>
          <a:p>
            <a:endParaRPr lang="pt-BR" sz="2800" b="1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1511998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77108"/>
          </a:xfrm>
        </p:spPr>
        <p:txBody>
          <a:bodyPr/>
          <a:lstStyle/>
          <a:p>
            <a:pPr algn="ctr"/>
            <a:r>
              <a:rPr lang="pt-BR" b="1" dirty="0"/>
              <a:t>RFID - </a:t>
            </a:r>
            <a:r>
              <a:rPr lang="pt-BR" sz="4000" b="1" dirty="0"/>
              <a:t>APLICAÇÕES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209800"/>
            <a:ext cx="6629400" cy="3356134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1371600" y="5715000"/>
            <a:ext cx="6746033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/>
              <a:t>Fonte: https://oxx.sampa.br/servicos/controle-de-acesso-veicular-tag-rfid</a:t>
            </a:r>
          </a:p>
        </p:txBody>
      </p:sp>
    </p:spTree>
    <p:extLst>
      <p:ext uri="{BB962C8B-B14F-4D97-AF65-F5344CB8AC3E}">
        <p14:creationId xmlns:p14="http://schemas.microsoft.com/office/powerpoint/2010/main" val="4660058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15553"/>
          </a:xfrm>
        </p:spPr>
        <p:txBody>
          <a:bodyPr/>
          <a:lstStyle/>
          <a:p>
            <a:pPr algn="ctr"/>
            <a:r>
              <a:rPr lang="pt-BR" sz="4000" b="1" dirty="0"/>
              <a:t>RFID - 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533400" y="1981200"/>
            <a:ext cx="8001000" cy="5416868"/>
          </a:xfrm>
        </p:spPr>
        <p:txBody>
          <a:bodyPr/>
          <a:lstStyle/>
          <a:p>
            <a:r>
              <a:rPr lang="pt-BR" sz="2800" b="1" dirty="0"/>
              <a:t>Segurança</a:t>
            </a:r>
          </a:p>
          <a:p>
            <a:pPr algn="just"/>
            <a:r>
              <a:rPr lang="pt-BR" sz="2400" dirty="0"/>
              <a:t>Além do controle de acesso, um sistema RFID pode prover na área de segurança outros serviços. Outro bem conhecido  é o </a:t>
            </a:r>
            <a:r>
              <a:rPr lang="pt-BR" sz="2400" b="1" dirty="0"/>
              <a:t>sistema de imobilização de Veículos. </a:t>
            </a:r>
          </a:p>
          <a:p>
            <a:pPr algn="just"/>
            <a:endParaRPr lang="pt-BR" sz="2400" b="1" dirty="0"/>
          </a:p>
          <a:p>
            <a:pPr algn="just"/>
            <a:r>
              <a:rPr lang="pt-BR" sz="2800" b="1" dirty="0"/>
              <a:t>Empresas que utilizam RFID</a:t>
            </a:r>
          </a:p>
          <a:p>
            <a:r>
              <a:rPr lang="pt-BR" dirty="0"/>
              <a:t>Empresa de reciclagem de PET.</a:t>
            </a:r>
          </a:p>
          <a:p>
            <a:r>
              <a:rPr lang="pt-BR" dirty="0"/>
              <a:t>Correios.</a:t>
            </a:r>
          </a:p>
          <a:p>
            <a:r>
              <a:rPr lang="pt-BR" dirty="0"/>
              <a:t>Rock in Rio.</a:t>
            </a:r>
          </a:p>
          <a:p>
            <a:r>
              <a:rPr lang="pt-BR" dirty="0"/>
              <a:t>Coca Cola.</a:t>
            </a:r>
          </a:p>
          <a:p>
            <a:r>
              <a:rPr lang="pt-BR" dirty="0"/>
              <a:t>Biblioteca do Mar (MUSEU DE ARTE DO RIO DE JANEIRO)</a:t>
            </a:r>
          </a:p>
          <a:p>
            <a:r>
              <a:rPr lang="pt-BR" dirty="0"/>
              <a:t>Indústria de Calçados.</a:t>
            </a:r>
          </a:p>
          <a:p>
            <a:r>
              <a:rPr lang="pt-BR" dirty="0"/>
              <a:t>Fabricantes de Calçados.</a:t>
            </a:r>
          </a:p>
          <a:p>
            <a:r>
              <a:rPr lang="pt-BR" dirty="0"/>
              <a:t>Boticário.</a:t>
            </a:r>
          </a:p>
          <a:p>
            <a:endParaRPr lang="pt-BR" b="1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80086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15553"/>
          </a:xfrm>
        </p:spPr>
        <p:txBody>
          <a:bodyPr/>
          <a:lstStyle/>
          <a:p>
            <a:pPr algn="ctr"/>
            <a:r>
              <a:rPr lang="pt-BR" sz="4000" b="1" dirty="0"/>
              <a:t>RFID - 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533400" y="1981200"/>
            <a:ext cx="8001000" cy="4801314"/>
          </a:xfrm>
        </p:spPr>
        <p:txBody>
          <a:bodyPr/>
          <a:lstStyle/>
          <a:p>
            <a:r>
              <a:rPr lang="pt-BR" sz="3200" b="1" dirty="0"/>
              <a:t>Identificação Animal</a:t>
            </a:r>
          </a:p>
          <a:p>
            <a:pPr algn="just"/>
            <a:endParaRPr lang="pt-BR" b="1" dirty="0"/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3000" dirty="0"/>
              <a:t>Gerenciamento dos animais entre as companhias;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3000" dirty="0"/>
              <a:t>Controle de epidemias;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3000" dirty="0"/>
              <a:t>Garantia de qualidade e procedência;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pt-BR" sz="3000" dirty="0"/>
              <a:t>Animais Silvestres para controle de migração, ajudando no estudo das espécies.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pt-BR" b="1" dirty="0"/>
          </a:p>
          <a:p>
            <a:pPr algn="just"/>
            <a:endParaRPr lang="pt-BR" dirty="0"/>
          </a:p>
          <a:p>
            <a:pPr algn="just"/>
            <a:endParaRPr lang="pt-BR" b="1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243040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615553"/>
          </a:xfrm>
        </p:spPr>
        <p:txBody>
          <a:bodyPr/>
          <a:lstStyle/>
          <a:p>
            <a:pPr algn="ctr"/>
            <a:r>
              <a:rPr lang="pt-BR" sz="4000" b="1" dirty="0"/>
              <a:t>RFID - 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533400" y="1981200"/>
            <a:ext cx="8001000" cy="5109091"/>
          </a:xfrm>
        </p:spPr>
        <p:txBody>
          <a:bodyPr/>
          <a:lstStyle/>
          <a:p>
            <a:r>
              <a:rPr lang="pt-BR" sz="3200" b="1" dirty="0"/>
              <a:t>Identificação Animal</a:t>
            </a:r>
          </a:p>
          <a:p>
            <a:endParaRPr lang="pt-BR" b="1" dirty="0"/>
          </a:p>
          <a:p>
            <a:pPr algn="just"/>
            <a:r>
              <a:rPr lang="pt-BR" b="1" dirty="0"/>
              <a:t>Colares</a:t>
            </a:r>
            <a:r>
              <a:rPr lang="pt-BR" dirty="0"/>
              <a:t> - fáceis de serem aplicados e transferidos de um animal para o outro; é usado geralmente apenas dentro de uma companhia.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Brincos</a:t>
            </a:r>
            <a:r>
              <a:rPr lang="pt-BR" dirty="0"/>
              <a:t> - são as </a:t>
            </a:r>
            <a:r>
              <a:rPr lang="pt-BR" dirty="0" err="1"/>
              <a:t>tags</a:t>
            </a:r>
            <a:r>
              <a:rPr lang="pt-BR" dirty="0"/>
              <a:t> de menor custo, e podem ser lidas a uma distancia de até um metro.</a:t>
            </a:r>
          </a:p>
          <a:p>
            <a:endParaRPr lang="pt-BR" b="1" dirty="0"/>
          </a:p>
          <a:p>
            <a:r>
              <a:rPr lang="pt-BR" b="1" dirty="0"/>
              <a:t>Injetáveis</a:t>
            </a:r>
            <a:r>
              <a:rPr lang="pt-BR" dirty="0"/>
              <a:t> - injetáveis, que são usadas a cerca de 10 anos, ela é colocada sob a pele do animal, um aplicador parecido com uma injeção.</a:t>
            </a:r>
          </a:p>
          <a:p>
            <a:endParaRPr lang="pt-BR" dirty="0"/>
          </a:p>
          <a:p>
            <a:r>
              <a:rPr lang="pt-BR" b="1" dirty="0"/>
              <a:t>Ingeríveis</a:t>
            </a:r>
            <a:r>
              <a:rPr lang="pt-BR" dirty="0"/>
              <a:t> (</a:t>
            </a:r>
            <a:r>
              <a:rPr lang="pt-BR" dirty="0" err="1"/>
              <a:t>bolus</a:t>
            </a:r>
            <a:r>
              <a:rPr lang="pt-BR" dirty="0"/>
              <a:t>) - é um grande comprimido revestido geralmente por um material cerâmico resistente a ácido e de forma cilíndrica, e pode ficar no estomago do animal por toda sua vida.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52003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19200" y="457200"/>
            <a:ext cx="7467600" cy="492443"/>
          </a:xfrm>
        </p:spPr>
        <p:txBody>
          <a:bodyPr/>
          <a:lstStyle/>
          <a:p>
            <a:pPr algn="ctr"/>
            <a:r>
              <a:rPr lang="pt-BR" sz="3200" b="1" dirty="0"/>
              <a:t>RFID - APLICAÇÕES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533400" y="1981200"/>
            <a:ext cx="8001000" cy="1477328"/>
          </a:xfrm>
        </p:spPr>
        <p:txBody>
          <a:bodyPr/>
          <a:lstStyle/>
          <a:p>
            <a:endParaRPr lang="pt-BR" sz="2800" b="1" dirty="0"/>
          </a:p>
          <a:p>
            <a:endParaRPr lang="pt-BR" sz="2800" b="1" dirty="0"/>
          </a:p>
          <a:p>
            <a:pPr algn="just"/>
            <a:endParaRPr lang="pt-BR" b="1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43" y="2092643"/>
            <a:ext cx="3200400" cy="1905000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438400" y="6540777"/>
            <a:ext cx="48768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dirty="0"/>
              <a:t>Fonte: https://www.asiarfid.com/pt/rfid-animal-tracking-and-identification.html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193437"/>
            <a:ext cx="3167743" cy="2174789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68545"/>
            <a:ext cx="3048000" cy="202909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 flipV="1">
            <a:off x="5181600" y="4193437"/>
            <a:ext cx="2895600" cy="2064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5096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6800" y="152400"/>
            <a:ext cx="7467600" cy="1231106"/>
          </a:xfrm>
        </p:spPr>
        <p:txBody>
          <a:bodyPr/>
          <a:lstStyle/>
          <a:p>
            <a:pPr algn="ctr"/>
            <a:r>
              <a:rPr lang="pt-BR" sz="4000" b="1" dirty="0"/>
              <a:t>RFID </a:t>
            </a:r>
            <a:br>
              <a:rPr lang="pt-BR" sz="4000" b="1" dirty="0"/>
            </a:br>
            <a:r>
              <a:rPr lang="pt-BR" sz="4000" b="1" dirty="0"/>
              <a:t> </a:t>
            </a:r>
            <a:r>
              <a:rPr lang="pt-BR" sz="3200" b="1" dirty="0"/>
              <a:t>VANTAGENS E DESVANTAGENS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533400" y="1828800"/>
            <a:ext cx="8001000" cy="5029200"/>
          </a:xfrm>
        </p:spPr>
        <p:txBody>
          <a:bodyPr/>
          <a:lstStyle/>
          <a:p>
            <a:r>
              <a:rPr lang="pt-BR" sz="2800" b="1" dirty="0"/>
              <a:t>VANTAGENS</a:t>
            </a:r>
          </a:p>
          <a:p>
            <a:pPr algn="l"/>
            <a:endParaRPr lang="pt-BR" b="1" dirty="0"/>
          </a:p>
          <a:p>
            <a:pPr algn="l"/>
            <a:r>
              <a:rPr lang="pt-BR" dirty="0"/>
              <a:t>       •   Capacidade de armazenamento, leitura e envio dos dados para etiquetas ativas;</a:t>
            </a:r>
            <a:br>
              <a:rPr lang="pt-BR" dirty="0"/>
            </a:br>
            <a:r>
              <a:rPr lang="pt-BR" dirty="0"/>
              <a:t>       •   Leitura sem necessidade de proximidade </a:t>
            </a:r>
            <a:r>
              <a:rPr lang="pt-BR" dirty="0" err="1"/>
              <a:t>dO</a:t>
            </a:r>
            <a:r>
              <a:rPr lang="pt-BR" dirty="0"/>
              <a:t> leitor para a captação dos dados;</a:t>
            </a:r>
            <a:br>
              <a:rPr lang="pt-BR" dirty="0"/>
            </a:br>
            <a:r>
              <a:rPr lang="pt-BR" dirty="0"/>
              <a:t>       •   Robustez das etiquetas com possibilidade de reutilização ;</a:t>
            </a:r>
            <a:br>
              <a:rPr lang="pt-BR" dirty="0"/>
            </a:br>
            <a:r>
              <a:rPr lang="pt-BR" dirty="0"/>
              <a:t>       •    Precisão na transferência de dados e velocidade no envio dos mesmos;</a:t>
            </a:r>
            <a:br>
              <a:rPr lang="pt-BR" dirty="0"/>
            </a:br>
            <a:r>
              <a:rPr lang="pt-BR" dirty="0"/>
              <a:t>       •   Localização dos itens ainda em processos de busca;</a:t>
            </a:r>
            <a:br>
              <a:rPr lang="pt-BR" dirty="0"/>
            </a:br>
            <a:r>
              <a:rPr lang="pt-BR" dirty="0"/>
              <a:t>       •   Prevenção contra roubos e falsificação de mercadorias;</a:t>
            </a:r>
            <a:br>
              <a:rPr lang="pt-BR" dirty="0"/>
            </a:br>
            <a:r>
              <a:rPr lang="pt-BR" dirty="0"/>
              <a:t>       •   Coleta de dados de animais ainda no campo.</a:t>
            </a:r>
            <a:br>
              <a:rPr lang="pt-BR" dirty="0"/>
            </a:br>
            <a:endParaRPr lang="pt-BR" dirty="0"/>
          </a:p>
          <a:p>
            <a:pPr algn="just"/>
            <a:r>
              <a:rPr lang="pt-BR" dirty="0"/>
              <a:t>Principais características dos sistemas de RFID que são a </a:t>
            </a:r>
            <a:r>
              <a:rPr lang="pt-BR" b="1" dirty="0"/>
              <a:t>durabilidade das </a:t>
            </a:r>
            <a:r>
              <a:rPr lang="pt-BR" b="1" dirty="0" err="1"/>
              <a:t>tags</a:t>
            </a:r>
            <a:r>
              <a:rPr lang="pt-BR" dirty="0"/>
              <a:t>, a </a:t>
            </a:r>
            <a:r>
              <a:rPr lang="pt-BR" b="1" dirty="0"/>
              <a:t>precisão </a:t>
            </a:r>
            <a:r>
              <a:rPr lang="pt-BR" dirty="0"/>
              <a:t>na transmissão de dados e a realização de </a:t>
            </a:r>
            <a:r>
              <a:rPr lang="pt-BR" b="1" dirty="0"/>
              <a:t>leitura sem necessidade de contato.</a:t>
            </a:r>
          </a:p>
          <a:p>
            <a:pPr algn="just"/>
            <a:r>
              <a:rPr lang="pt-BR" dirty="0"/>
              <a:t> </a:t>
            </a:r>
          </a:p>
          <a:p>
            <a:pPr algn="just"/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91497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66800" y="152400"/>
            <a:ext cx="7467600" cy="1231106"/>
          </a:xfrm>
        </p:spPr>
        <p:txBody>
          <a:bodyPr/>
          <a:lstStyle/>
          <a:p>
            <a:pPr algn="ctr"/>
            <a:r>
              <a:rPr lang="pt-BR" sz="4000" b="1" dirty="0"/>
              <a:t>RFID </a:t>
            </a:r>
            <a:br>
              <a:rPr lang="pt-BR" sz="4000" b="1" dirty="0"/>
            </a:br>
            <a:r>
              <a:rPr lang="pt-BR" sz="4000" b="1" dirty="0"/>
              <a:t> </a:t>
            </a:r>
            <a:r>
              <a:rPr lang="pt-BR" sz="3200" b="1" dirty="0"/>
              <a:t>VANTAGENS E DESVANTAGENS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1066800" y="2133600"/>
            <a:ext cx="7243665" cy="4370427"/>
          </a:xfrm>
        </p:spPr>
        <p:txBody>
          <a:bodyPr/>
          <a:lstStyle/>
          <a:p>
            <a:r>
              <a:rPr lang="pt-BR" sz="2800" b="1" dirty="0"/>
              <a:t>DESVANTAGENS</a:t>
            </a:r>
          </a:p>
          <a:p>
            <a:pPr algn="l"/>
            <a:endParaRPr lang="pt-BR" b="1" dirty="0"/>
          </a:p>
          <a:p>
            <a:pPr algn="just"/>
            <a:r>
              <a:rPr lang="pt-BR" dirty="0"/>
              <a:t>•</a:t>
            </a:r>
            <a:r>
              <a:rPr lang="pt-BR" sz="1800" dirty="0"/>
              <a:t> O custo elevado da tecnologia em relação aos sistemas de código de barras; </a:t>
            </a:r>
            <a:br>
              <a:rPr lang="pt-BR" sz="1800" dirty="0"/>
            </a:br>
            <a:r>
              <a:rPr lang="pt-BR" sz="1800" dirty="0"/>
              <a:t>• O preço final dos produtos, pois a tecnologia não se limita apenas ao microchip anexado ao produto. Por trás da estrutura estão </a:t>
            </a:r>
            <a:r>
              <a:rPr lang="pt-BR" sz="1800" b="1" dirty="0"/>
              <a:t>antenas</a:t>
            </a:r>
            <a:r>
              <a:rPr lang="pt-BR" sz="1800" dirty="0"/>
              <a:t>, </a:t>
            </a:r>
            <a:r>
              <a:rPr lang="pt-BR" sz="1800" b="1" dirty="0"/>
              <a:t>leitoras</a:t>
            </a:r>
            <a:r>
              <a:rPr lang="pt-BR" sz="1800" dirty="0"/>
              <a:t>, </a:t>
            </a:r>
            <a:r>
              <a:rPr lang="pt-BR" sz="1800" b="1" dirty="0"/>
              <a:t>ferramentas de filtragem</a:t>
            </a:r>
            <a:r>
              <a:rPr lang="pt-BR" sz="1800" dirty="0"/>
              <a:t> das informações e </a:t>
            </a:r>
            <a:r>
              <a:rPr lang="pt-BR" sz="1800" b="1" dirty="0"/>
              <a:t>sistemas de comunicação;</a:t>
            </a:r>
            <a:br>
              <a:rPr lang="pt-BR" sz="1800" b="1" dirty="0"/>
            </a:br>
            <a:r>
              <a:rPr lang="pt-BR" sz="1800" dirty="0"/>
              <a:t>• O uso em materiais metálicos e condutivos pode afetar o alcance de transmissão das antenas. Como a operação é baseada em campos magnéticos, o metal pode interferir negativamente no desempenho;</a:t>
            </a:r>
            <a:br>
              <a:rPr lang="pt-BR" sz="1800" dirty="0"/>
            </a:br>
            <a:r>
              <a:rPr lang="pt-BR" sz="1800" dirty="0"/>
              <a:t>• A padronização das </a:t>
            </a:r>
            <a:r>
              <a:rPr lang="pt-BR" sz="1800" dirty="0" err="1"/>
              <a:t>freqüências</a:t>
            </a:r>
            <a:r>
              <a:rPr lang="pt-BR" sz="1800" dirty="0"/>
              <a:t> utilizadas para que os produtos possam ser lidos por toda a indústria, de maneira uniforme.</a:t>
            </a:r>
            <a:br>
              <a:rPr lang="pt-BR" sz="1800" dirty="0"/>
            </a:br>
            <a:r>
              <a:rPr lang="pt-BR" sz="1800" dirty="0"/>
              <a:t>• A invasão da privacidade dos consumidores por causa da monitoração das etiquetas coladas nos produtos</a:t>
            </a:r>
          </a:p>
        </p:txBody>
      </p:sp>
    </p:spTree>
    <p:extLst>
      <p:ext uri="{BB962C8B-B14F-4D97-AF65-F5344CB8AC3E}">
        <p14:creationId xmlns:p14="http://schemas.microsoft.com/office/powerpoint/2010/main" val="519391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54832" y="457200"/>
            <a:ext cx="7467600" cy="615553"/>
          </a:xfrm>
        </p:spPr>
        <p:txBody>
          <a:bodyPr/>
          <a:lstStyle/>
          <a:p>
            <a:pPr algn="ctr"/>
            <a:r>
              <a:rPr lang="pt-BR" sz="4000" b="1" dirty="0"/>
              <a:t>CONCLUSÃO</a:t>
            </a:r>
            <a:endParaRPr lang="pt-BR" sz="32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685800" y="2667000"/>
            <a:ext cx="7543800" cy="3352800"/>
          </a:xfrm>
        </p:spPr>
        <p:txBody>
          <a:bodyPr/>
          <a:lstStyle/>
          <a:p>
            <a:pPr algn="just"/>
            <a:r>
              <a:rPr lang="pt-BR" sz="2800" dirty="0"/>
              <a:t>A Tecnologia RFID é uma inovação que propõe consideráveis melhorias onde seja aplicada, pois proporciona agilidade, confiabilidade e segurança. Vem sendo utilizada nos diversos setores o que em breve se tornará algum comum no nosso dia-a-dia.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266410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54832" y="457200"/>
            <a:ext cx="7467600" cy="492443"/>
          </a:xfrm>
        </p:spPr>
        <p:txBody>
          <a:bodyPr/>
          <a:lstStyle/>
          <a:p>
            <a:pPr algn="ctr"/>
            <a:r>
              <a:rPr lang="pt-BR" sz="3200" b="1" dirty="0"/>
              <a:t>ARTIGOS RELEVANTES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685800" y="1828800"/>
            <a:ext cx="7736632" cy="5170646"/>
          </a:xfrm>
        </p:spPr>
        <p:txBody>
          <a:bodyPr/>
          <a:lstStyle/>
          <a:p>
            <a:pPr lvl="0" fontAlgn="base"/>
            <a:r>
              <a:rPr lang="pt-BR" u="sng" dirty="0">
                <a:hlinkClick r:id="rId2"/>
              </a:rPr>
              <a:t>Por que mais bibliotecas estão usando a tecnologia RFID?</a:t>
            </a:r>
            <a:endParaRPr lang="pt-BR" u="sng" dirty="0"/>
          </a:p>
          <a:p>
            <a:pPr lvl="0" fontAlgn="base"/>
            <a:endParaRPr lang="pt-BR" dirty="0"/>
          </a:p>
          <a:p>
            <a:pPr lvl="0" fontAlgn="base"/>
            <a:r>
              <a:rPr lang="pt-BR" u="sng" dirty="0">
                <a:hlinkClick r:id="rId3"/>
              </a:rPr>
              <a:t>RFID para gerenciamento de controle de acesso que você gostaria de saber</a:t>
            </a:r>
            <a:endParaRPr lang="pt-BR" u="sng" dirty="0"/>
          </a:p>
          <a:p>
            <a:pPr lvl="0" fontAlgn="base"/>
            <a:endParaRPr lang="pt-BR" dirty="0"/>
          </a:p>
          <a:p>
            <a:pPr lvl="0" fontAlgn="base"/>
            <a:r>
              <a:rPr lang="pt-BR" u="sng" dirty="0">
                <a:hlinkClick r:id="rId4"/>
              </a:rPr>
              <a:t>O guia definitivo para conhecer o gerenciamento de ativos RFID</a:t>
            </a:r>
            <a:endParaRPr lang="pt-BR" u="sng" dirty="0"/>
          </a:p>
          <a:p>
            <a:pPr lvl="0" fontAlgn="base"/>
            <a:endParaRPr lang="pt-BR" dirty="0"/>
          </a:p>
          <a:p>
            <a:pPr lvl="0" fontAlgn="base"/>
            <a:r>
              <a:rPr lang="pt-BR" u="sng" dirty="0">
                <a:hlinkClick r:id="rId5"/>
              </a:rPr>
              <a:t>RFID para lavanderia: como funciona? Quais são os benefícios?</a:t>
            </a:r>
            <a:endParaRPr lang="pt-BR" u="sng" dirty="0"/>
          </a:p>
          <a:p>
            <a:pPr lvl="0" fontAlgn="base"/>
            <a:endParaRPr lang="pt-BR" dirty="0"/>
          </a:p>
          <a:p>
            <a:pPr lvl="0" fontAlgn="base"/>
            <a:r>
              <a:rPr lang="pt-BR" u="sng" dirty="0">
                <a:hlinkClick r:id="rId6"/>
              </a:rPr>
              <a:t>Profundamente escavado: RFID para rastreamento</a:t>
            </a:r>
            <a:endParaRPr lang="pt-BR" u="sng" dirty="0"/>
          </a:p>
          <a:p>
            <a:pPr lvl="0" fontAlgn="base"/>
            <a:endParaRPr lang="pt-BR" dirty="0"/>
          </a:p>
          <a:p>
            <a:pPr lvl="0" fontAlgn="base"/>
            <a:r>
              <a:rPr lang="pt-BR" u="sng" dirty="0">
                <a:hlinkClick r:id="rId7"/>
              </a:rPr>
              <a:t>9 aplicações comuns de RFID em hospitais</a:t>
            </a:r>
            <a:endParaRPr lang="pt-BR" u="sng" dirty="0"/>
          </a:p>
          <a:p>
            <a:pPr lvl="0" fontAlgn="base"/>
            <a:endParaRPr lang="pt-BR" dirty="0"/>
          </a:p>
          <a:p>
            <a:pPr lvl="0" fontAlgn="base"/>
            <a:r>
              <a:rPr lang="pt-BR" u="sng" dirty="0">
                <a:hlinkClick r:id="rId8"/>
              </a:rPr>
              <a:t>Como RFID revoluciona a manufatura?</a:t>
            </a:r>
            <a:endParaRPr lang="pt-BR" u="sng" dirty="0"/>
          </a:p>
          <a:p>
            <a:pPr lvl="0" fontAlgn="base"/>
            <a:endParaRPr lang="pt-BR" dirty="0"/>
          </a:p>
          <a:p>
            <a:pPr lvl="0" fontAlgn="base"/>
            <a:r>
              <a:rPr lang="pt-BR" u="sng" dirty="0">
                <a:hlinkClick r:id="rId9"/>
              </a:rPr>
              <a:t>Como a tecnologia RFID muda a indústria de vestuário?</a:t>
            </a:r>
            <a:endParaRPr lang="pt-BR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6056895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54832" y="457200"/>
            <a:ext cx="7467600" cy="615553"/>
          </a:xfrm>
        </p:spPr>
        <p:txBody>
          <a:bodyPr/>
          <a:lstStyle/>
          <a:p>
            <a:pPr algn="ctr"/>
            <a:r>
              <a:rPr lang="pt-BR" sz="4000" b="1" dirty="0"/>
              <a:t>REFERÊNCIAS</a:t>
            </a:r>
            <a:endParaRPr lang="pt-BR" sz="32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685800" y="2209800"/>
            <a:ext cx="7736632" cy="4154984"/>
          </a:xfrm>
        </p:spPr>
        <p:txBody>
          <a:bodyPr/>
          <a:lstStyle/>
          <a:p>
            <a:r>
              <a:rPr lang="pt-BR" sz="1400" dirty="0"/>
              <a:t>Disponível em: &lt;</a:t>
            </a:r>
            <a:r>
              <a:rPr lang="pt-BR" sz="1400" dirty="0">
                <a:hlinkClick r:id="rId2"/>
              </a:rPr>
              <a:t>https://www.gta.ufrj.br/grad/07_1/rfid/RFID_arquivos/prosecontras.htm</a:t>
            </a:r>
            <a:r>
              <a:rPr lang="pt-BR" sz="1400" dirty="0"/>
              <a:t>&gt; Acesso em 06/09/2024.</a:t>
            </a:r>
          </a:p>
          <a:p>
            <a:endParaRPr lang="pt-BR" sz="1400" dirty="0"/>
          </a:p>
          <a:p>
            <a:r>
              <a:rPr lang="pt-BR" sz="1400" dirty="0"/>
              <a:t>Disponível em: &lt;</a:t>
            </a:r>
            <a:r>
              <a:rPr lang="pt-BR" sz="1400" dirty="0">
                <a:hlinkClick r:id="rId3"/>
              </a:rPr>
              <a:t>https://www.gta.ufrj.br/grad/07_1/rfid/RFID_arquivos/futuro.htm</a:t>
            </a:r>
            <a:r>
              <a:rPr lang="pt-BR" sz="1400" dirty="0"/>
              <a:t>&gt; Acesso em 06/09/2024.</a:t>
            </a:r>
          </a:p>
          <a:p>
            <a:endParaRPr lang="pt-BR" sz="1400" dirty="0"/>
          </a:p>
          <a:p>
            <a:r>
              <a:rPr lang="pt-BR" sz="1400" dirty="0"/>
              <a:t>Disponível em: &lt;</a:t>
            </a:r>
            <a:r>
              <a:rPr lang="pt-BR" sz="1400" dirty="0">
                <a:hlinkClick r:id="rId4"/>
              </a:rPr>
              <a:t>https://www.gta.ufrj.br/grad/07_1/rfid/RFID_arquivos/utilidades.htm</a:t>
            </a:r>
            <a:r>
              <a:rPr lang="pt-BR" sz="1400" dirty="0"/>
              <a:t>&gt; Acesso em 07/09/2024.</a:t>
            </a:r>
          </a:p>
          <a:p>
            <a:endParaRPr lang="pt-BR" sz="1400" dirty="0"/>
          </a:p>
          <a:p>
            <a:r>
              <a:rPr lang="pt-BR" sz="1400" dirty="0"/>
              <a:t>Disponível em: &lt;</a:t>
            </a:r>
            <a:r>
              <a:rPr lang="pt-BR" sz="1400" dirty="0">
                <a:hlinkClick r:id="rId5"/>
              </a:rPr>
              <a:t>https://www.gta.ufrj.br/grad/07_1/rfid/RFID_arquivos/como%20funciona.htm</a:t>
            </a:r>
            <a:r>
              <a:rPr lang="pt-BR" sz="1400" dirty="0"/>
              <a:t>&gt; Acesso em 07/09/2024</a:t>
            </a:r>
          </a:p>
          <a:p>
            <a:endParaRPr lang="pt-BR" sz="1400" dirty="0"/>
          </a:p>
          <a:p>
            <a:r>
              <a:rPr lang="pt-BR" sz="1400" dirty="0"/>
              <a:t>Disponível em: &lt;</a:t>
            </a:r>
            <a:r>
              <a:rPr lang="pt-BR" sz="1400" dirty="0">
                <a:hlinkClick r:id="rId6"/>
              </a:rPr>
              <a:t>https://www.gta.ufrj.br/grad/07_1/rfid/RFID_arquivos/breve%20historia.htm</a:t>
            </a:r>
            <a:r>
              <a:rPr lang="pt-BR" sz="1400" dirty="0"/>
              <a:t>&gt; Acesso em 09/09/2024.</a:t>
            </a:r>
          </a:p>
          <a:p>
            <a:endParaRPr lang="pt-BR" sz="1400" dirty="0"/>
          </a:p>
          <a:p>
            <a:r>
              <a:rPr lang="pt-BR" sz="1400" dirty="0"/>
              <a:t>Disponível em: &lt;</a:t>
            </a:r>
            <a:r>
              <a:rPr lang="pt-BR" sz="1400" dirty="0">
                <a:hlinkClick r:id="rId7"/>
              </a:rPr>
              <a:t>https://www.youtube.com/watch?v=4S2F45vO1oo</a:t>
            </a:r>
            <a:r>
              <a:rPr lang="pt-BR" sz="1400" dirty="0"/>
              <a:t>&gt; Acesso em 09/09/2024.</a:t>
            </a:r>
          </a:p>
          <a:p>
            <a:endParaRPr lang="pt-BR" sz="1400" dirty="0"/>
          </a:p>
          <a:p>
            <a:endParaRPr lang="pt-BR" sz="1600" dirty="0"/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6912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2731</TotalTime>
  <Words>1958</Words>
  <Application>Microsoft Office PowerPoint</Application>
  <PresentationFormat>Apresentação na tela (4:3)</PresentationFormat>
  <Paragraphs>226</Paragraphs>
  <Slides>32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8" baseType="lpstr">
      <vt:lpstr>Arial MT</vt:lpstr>
      <vt:lpstr>Calibri</vt:lpstr>
      <vt:lpstr>Tahoma</vt:lpstr>
      <vt:lpstr>Times New Roman</vt:lpstr>
      <vt:lpstr>Wingdings</vt:lpstr>
      <vt:lpstr>Office Theme</vt:lpstr>
      <vt:lpstr>RFID Radio Frequency Identification    Professor : Allan Aminadab Aluno: Aristeu Dantas da Costa Júnior</vt:lpstr>
      <vt:lpstr>OBJETIVO  Conhecer a Tecnologia RFID e suas Diversas Aplicações. </vt:lpstr>
      <vt:lpstr>ROTEIRO</vt:lpstr>
      <vt:lpstr>RFID - HISTÓRICO</vt:lpstr>
      <vt:lpstr>RFID - HISTÓRICO</vt:lpstr>
      <vt:lpstr>RFID DESCRIÇÃO DO SISTEMA</vt:lpstr>
      <vt:lpstr>RFID DESCRIÇÃO DO SISTEMA</vt:lpstr>
      <vt:lpstr>RFID DESCRIÇÃO DO SISTEMA</vt:lpstr>
      <vt:lpstr>RFID DESCRIÇÃO DO SISTEMA</vt:lpstr>
      <vt:lpstr>RFID DESCRIÇÃO DO SISTEMA</vt:lpstr>
      <vt:lpstr>RFID DESCRIÇÃO DO SISTEMA</vt:lpstr>
      <vt:lpstr>RFID DESCRIÇÃO DO SISTEMA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- APLICAÇÕES</vt:lpstr>
      <vt:lpstr>RFID   VANTAGENS E DESVANTAGENS</vt:lpstr>
      <vt:lpstr>RFID   VANTAGENS E DESVANTAGENS</vt:lpstr>
      <vt:lpstr>CONCLUSÃO</vt:lpstr>
      <vt:lpstr>ARTIGOS RELEVANTES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VLAN</dc:title>
  <dc:creator>usuario</dc:creator>
  <cp:lastModifiedBy>Aristeu Dantas</cp:lastModifiedBy>
  <cp:revision>96</cp:revision>
  <dcterms:created xsi:type="dcterms:W3CDTF">2024-03-04T22:26:28Z</dcterms:created>
  <dcterms:modified xsi:type="dcterms:W3CDTF">2025-03-07T14:07:26Z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2022-08-02T00:00:00Z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2024-03-04T00:00:00Z</vt:filetime>
  </property>
</Properties>
</file>